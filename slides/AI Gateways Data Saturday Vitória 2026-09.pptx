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5" r:id="rId6"/>
    <p:sldId id="262" r:id="rId7"/>
    <p:sldId id="264" r:id="rId8"/>
    <p:sldId id="266" r:id="rId9"/>
    <p:sldId id="269" r:id="rId10"/>
    <p:sldId id="268" r:id="rId11"/>
    <p:sldId id="276" r:id="rId12"/>
    <p:sldId id="277" r:id="rId13"/>
    <p:sldId id="274" r:id="rId14"/>
    <p:sldId id="272" r:id="rId15"/>
    <p:sldId id="270" r:id="rId16"/>
    <p:sldId id="271" r:id="rId17"/>
    <p:sldId id="278" r:id="rId18"/>
    <p:sldId id="279" r:id="rId19"/>
    <p:sldId id="260" r:id="rId20"/>
  </p:sldIdLst>
  <p:sldSz cx="9144000" cy="5143500" type="screen16x9"/>
  <p:notesSz cx="6858000" cy="9144000"/>
  <p:embeddedFontLst>
    <p:embeddedFont>
      <p:font typeface="Average" panose="020B0604020202020204" charset="0"/>
      <p:regular r:id="rId22"/>
    </p:embeddedFont>
    <p:embeddedFont>
      <p:font typeface="Oswald" panose="00000500000000000000" pitchFamily="2" charset="0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6" roundtripDataSignature="AMtx7mgQK7RK9Tebwyu3Nn8qsunMON/m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5686" autoAdjust="0"/>
  </p:normalViewPr>
  <p:slideViewPr>
    <p:cSldViewPr snapToGrid="0">
      <p:cViewPr varScale="1">
        <p:scale>
          <a:sx n="82" d="100"/>
          <a:sy n="82" d="100"/>
        </p:scale>
        <p:origin x="1474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122F4A9D-521B-C464-F2C3-CD5AB3D32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>
            <a:extLst>
              <a:ext uri="{FF2B5EF4-FFF2-40B4-BE49-F238E27FC236}">
                <a16:creationId xmlns:a16="http://schemas.microsoft.com/office/drawing/2014/main" id="{6B910362-AA0D-29BB-45AB-F398E2BAC6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4:notes">
            <a:extLst>
              <a:ext uri="{FF2B5EF4-FFF2-40B4-BE49-F238E27FC236}">
                <a16:creationId xmlns:a16="http://schemas.microsoft.com/office/drawing/2014/main" id="{965525A3-25CA-2554-23FA-B2FD02987F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515600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45553FA9-0585-577B-F420-AEE7FF9E2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>
            <a:extLst>
              <a:ext uri="{FF2B5EF4-FFF2-40B4-BE49-F238E27FC236}">
                <a16:creationId xmlns:a16="http://schemas.microsoft.com/office/drawing/2014/main" id="{80D4FB9B-9CBA-268D-99B2-BBF25A5983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4:notes">
            <a:extLst>
              <a:ext uri="{FF2B5EF4-FFF2-40B4-BE49-F238E27FC236}">
                <a16:creationId xmlns:a16="http://schemas.microsoft.com/office/drawing/2014/main" id="{F40C14FB-05FD-E41B-39B3-AA6DC45DB6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538209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41CF4137-6706-B9F2-8997-730C94F78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>
            <a:extLst>
              <a:ext uri="{FF2B5EF4-FFF2-40B4-BE49-F238E27FC236}">
                <a16:creationId xmlns:a16="http://schemas.microsoft.com/office/drawing/2014/main" id="{E84F2554-8B6B-B6FF-282F-4A13D740A1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4:notes">
            <a:extLst>
              <a:ext uri="{FF2B5EF4-FFF2-40B4-BE49-F238E27FC236}">
                <a16:creationId xmlns:a16="http://schemas.microsoft.com/office/drawing/2014/main" id="{B8B1AF7A-0314-8BAF-0F11-72096A773D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98262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26FD6A72-ACD4-B4A7-DA5D-708FE1D18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>
            <a:extLst>
              <a:ext uri="{FF2B5EF4-FFF2-40B4-BE49-F238E27FC236}">
                <a16:creationId xmlns:a16="http://schemas.microsoft.com/office/drawing/2014/main" id="{0C0C77C0-C662-0E35-A419-22880FC463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4:notes">
            <a:extLst>
              <a:ext uri="{FF2B5EF4-FFF2-40B4-BE49-F238E27FC236}">
                <a16:creationId xmlns:a16="http://schemas.microsoft.com/office/drawing/2014/main" id="{3E0C39D9-D7FA-DA8E-9651-8A5FF6E903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49252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23F6EE22-8732-029E-A02F-51C7A915B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>
            <a:extLst>
              <a:ext uri="{FF2B5EF4-FFF2-40B4-BE49-F238E27FC236}">
                <a16:creationId xmlns:a16="http://schemas.microsoft.com/office/drawing/2014/main" id="{2A30DCA1-4D0C-B165-EE93-A19DDC6F62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4:notes">
            <a:extLst>
              <a:ext uri="{FF2B5EF4-FFF2-40B4-BE49-F238E27FC236}">
                <a16:creationId xmlns:a16="http://schemas.microsoft.com/office/drawing/2014/main" id="{D3D50394-935B-604B-FEBF-0DAEC0C81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10890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C8E72056-7C8A-411E-4496-EEB489A1E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>
            <a:extLst>
              <a:ext uri="{FF2B5EF4-FFF2-40B4-BE49-F238E27FC236}">
                <a16:creationId xmlns:a16="http://schemas.microsoft.com/office/drawing/2014/main" id="{9491FA9E-EAAF-285F-46DE-BD9EB5FF9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4:notes">
            <a:extLst>
              <a:ext uri="{FF2B5EF4-FFF2-40B4-BE49-F238E27FC236}">
                <a16:creationId xmlns:a16="http://schemas.microsoft.com/office/drawing/2014/main" id="{8F28B60A-C622-3BF5-45AE-540DA03580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94172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00510F9E-8BBF-1DB6-3079-3B2153DCC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>
            <a:extLst>
              <a:ext uri="{FF2B5EF4-FFF2-40B4-BE49-F238E27FC236}">
                <a16:creationId xmlns:a16="http://schemas.microsoft.com/office/drawing/2014/main" id="{DAF97DD4-0679-A64A-12BA-2637BE8064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4:notes">
            <a:extLst>
              <a:ext uri="{FF2B5EF4-FFF2-40B4-BE49-F238E27FC236}">
                <a16:creationId xmlns:a16="http://schemas.microsoft.com/office/drawing/2014/main" id="{7D62B297-8E48-9CDF-D6A5-E4A2824D5B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16562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99F77DAA-49FA-31F5-CBB6-7AC315EEC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>
            <a:extLst>
              <a:ext uri="{FF2B5EF4-FFF2-40B4-BE49-F238E27FC236}">
                <a16:creationId xmlns:a16="http://schemas.microsoft.com/office/drawing/2014/main" id="{D73B0639-2765-8711-29AC-9AB0841155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4:notes">
            <a:extLst>
              <a:ext uri="{FF2B5EF4-FFF2-40B4-BE49-F238E27FC236}">
                <a16:creationId xmlns:a16="http://schemas.microsoft.com/office/drawing/2014/main" id="{3444AF9A-C93B-BE16-3EC9-F89B9EFD73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53746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79BCCD99-D7B2-7D61-9015-8CDF72D57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>
            <a:extLst>
              <a:ext uri="{FF2B5EF4-FFF2-40B4-BE49-F238E27FC236}">
                <a16:creationId xmlns:a16="http://schemas.microsoft.com/office/drawing/2014/main" id="{9597910C-3ABD-B53B-AC5B-DD9F0F9368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4:notes">
            <a:extLst>
              <a:ext uri="{FF2B5EF4-FFF2-40B4-BE49-F238E27FC236}">
                <a16:creationId xmlns:a16="http://schemas.microsoft.com/office/drawing/2014/main" id="{CAD29A75-1A61-F1D9-78BD-CA7F86E1D2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28055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0C6A07E1-CE42-BF40-DC51-E33F025C1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>
            <a:extLst>
              <a:ext uri="{FF2B5EF4-FFF2-40B4-BE49-F238E27FC236}">
                <a16:creationId xmlns:a16="http://schemas.microsoft.com/office/drawing/2014/main" id="{72099316-C979-1705-8C2E-7172499240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4:notes">
            <a:extLst>
              <a:ext uri="{FF2B5EF4-FFF2-40B4-BE49-F238E27FC236}">
                <a16:creationId xmlns:a16="http://schemas.microsoft.com/office/drawing/2014/main" id="{34B2D417-3268-994E-FF58-CDBB74B549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959266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0ACE99BD-743C-64FB-59D0-0E76B9CE7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>
            <a:extLst>
              <a:ext uri="{FF2B5EF4-FFF2-40B4-BE49-F238E27FC236}">
                <a16:creationId xmlns:a16="http://schemas.microsoft.com/office/drawing/2014/main" id="{103FD698-FB81-1780-B853-104A505CBA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4:notes">
            <a:extLst>
              <a:ext uri="{FF2B5EF4-FFF2-40B4-BE49-F238E27FC236}">
                <a16:creationId xmlns:a16="http://schemas.microsoft.com/office/drawing/2014/main" id="{8EBF3E01-CBFC-7AD3-B2A5-399681AD13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153833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7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7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7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7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7"/>
          <p:cNvSpPr txBox="1">
            <a:spLocks noGrp="1"/>
          </p:cNvSpPr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subTitle" idx="1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6" name="Google Shape;16;p7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2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12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4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" name="Google Shape;41;p14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14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subTitle" idx="1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14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5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>
            <a:spLocks noGrp="1"/>
          </p:cNvSpPr>
          <p:nvPr>
            <p:ph type="title" hasCustomPrompt="1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6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at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2"/>
          <p:cNvSpPr txBox="1"/>
          <p:nvPr/>
        </p:nvSpPr>
        <p:spPr>
          <a:xfrm>
            <a:off x="210001" y="569977"/>
            <a:ext cx="8717037" cy="1486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2500"/>
          </a:bodyPr>
          <a:lstStyle/>
          <a:p>
            <a:pPr lvl="0">
              <a:lnSpc>
                <a:spcPct val="90000"/>
              </a:lnSpc>
              <a:buSzPts val="6000"/>
            </a:pPr>
            <a:r>
              <a:rPr lang="pt-BR" sz="40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AI Gateways: mais segurança e maior governança em suas soluções de Inteligência Artificial!</a:t>
            </a:r>
            <a:endParaRPr lang="pt-BR" sz="4000" b="0" i="0" u="none" strike="noStrike" cap="none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212678" y="2257457"/>
            <a:ext cx="8626522" cy="148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lnSpc>
                <a:spcPct val="90000"/>
              </a:lnSpc>
              <a:buSzPts val="2400"/>
            </a:pPr>
            <a:r>
              <a:rPr lang="en-US" sz="24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Renato Groffe</a:t>
            </a:r>
            <a:br>
              <a:rPr lang="en-US" sz="24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rPr lang="en-US" sz="20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Microsoft MVP, Docker Captain, Grafana Champion, </a:t>
            </a:r>
            <a:r>
              <a:rPr lang="en-US" sz="2000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APIsec</a:t>
            </a:r>
            <a:r>
              <a:rPr lang="en-US" sz="20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U Ambassador, MTAC</a:t>
            </a:r>
            <a:br>
              <a:rPr lang="en-US" sz="20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</a:br>
            <a:endParaRPr lang="en-US" sz="2000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" name="Google Shape;67;p2">
            <a:extLst>
              <a:ext uri="{FF2B5EF4-FFF2-40B4-BE49-F238E27FC236}">
                <a16:creationId xmlns:a16="http://schemas.microsoft.com/office/drawing/2014/main" id="{2D49F04E-B28C-E166-85AD-B7FB9EB2D27C}"/>
              </a:ext>
            </a:extLst>
          </p:cNvPr>
          <p:cNvSpPr txBox="1"/>
          <p:nvPr/>
        </p:nvSpPr>
        <p:spPr>
          <a:xfrm>
            <a:off x="210001" y="3060710"/>
            <a:ext cx="8626522" cy="148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lnSpc>
                <a:spcPct val="90000"/>
              </a:lnSpc>
              <a:buSzPts val="2400"/>
            </a:pPr>
            <a:r>
              <a:rPr lang="en-US" sz="24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Milton Camara</a:t>
            </a:r>
            <a:br>
              <a:rPr lang="en-US" sz="24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rPr lang="en-US" sz="20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Microsoft MVP</a:t>
            </a:r>
            <a:endParaRPr sz="2400" b="0" i="0" u="none" strike="noStrike" cap="none" dirty="0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4200" dirty="0"/>
              <a:t>Renato Groffe</a:t>
            </a:r>
            <a:endParaRPr dirty="0"/>
          </a:p>
        </p:txBody>
      </p:sp>
      <p:sp>
        <p:nvSpPr>
          <p:cNvPr id="78" name="Google Shape;78;p4"/>
          <p:cNvSpPr txBox="1">
            <a:spLocks noGrp="1"/>
          </p:cNvSpPr>
          <p:nvPr>
            <p:ph type="body" idx="1"/>
          </p:nvPr>
        </p:nvSpPr>
        <p:spPr>
          <a:xfrm>
            <a:off x="311700" y="1310275"/>
            <a:ext cx="8520600" cy="31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1700" dirty="0"/>
              <a:t>Microsoft Most Valuable Professional (MVP)</a:t>
            </a:r>
          </a:p>
          <a:p>
            <a:r>
              <a:rPr lang="en-US" sz="1700" dirty="0"/>
              <a:t>Docker Captain</a:t>
            </a:r>
          </a:p>
          <a:p>
            <a:r>
              <a:rPr lang="en-US" sz="1700" dirty="0"/>
              <a:t>Grafana Champion</a:t>
            </a:r>
          </a:p>
          <a:p>
            <a:r>
              <a:rPr lang="en-US" sz="1700" dirty="0"/>
              <a:t>APISEC U Ambassador</a:t>
            </a:r>
          </a:p>
          <a:p>
            <a:r>
              <a:rPr lang="en-US" sz="1700" dirty="0"/>
              <a:t>Multi-</a:t>
            </a:r>
            <a:r>
              <a:rPr lang="en-US" sz="1700" dirty="0" err="1"/>
              <a:t>Plataform</a:t>
            </a:r>
            <a:r>
              <a:rPr lang="en-US" sz="1700" dirty="0"/>
              <a:t> Technical Audience Contributor (MTAC)</a:t>
            </a:r>
          </a:p>
          <a:p>
            <a:r>
              <a:rPr lang="en-US" sz="1700" dirty="0" err="1"/>
              <a:t>Arquiteto</a:t>
            </a:r>
            <a:r>
              <a:rPr lang="en-US" sz="1700" dirty="0"/>
              <a:t> de </a:t>
            </a:r>
            <a:r>
              <a:rPr lang="en-US" sz="1700" dirty="0" err="1"/>
              <a:t>Soluções</a:t>
            </a:r>
            <a:r>
              <a:rPr lang="en-US" sz="1700" dirty="0"/>
              <a:t>/Software</a:t>
            </a:r>
          </a:p>
          <a:p>
            <a:r>
              <a:rPr lang="en-US" sz="1700" dirty="0"/>
              <a:t>+25 </a:t>
            </a:r>
            <a:r>
              <a:rPr lang="en-US" sz="1700" dirty="0" err="1"/>
              <a:t>anos</a:t>
            </a:r>
            <a:r>
              <a:rPr lang="en-US" sz="1700" dirty="0"/>
              <a:t> de </a:t>
            </a:r>
            <a:r>
              <a:rPr lang="en-US" sz="1700" dirty="0" err="1"/>
              <a:t>experiência</a:t>
            </a:r>
            <a:r>
              <a:rPr lang="en-US" sz="1700" dirty="0"/>
              <a:t> </a:t>
            </a:r>
            <a:r>
              <a:rPr lang="en-US" sz="1700" dirty="0" err="1"/>
              <a:t>na</a:t>
            </a:r>
            <a:r>
              <a:rPr lang="en-US" sz="1700" dirty="0"/>
              <a:t> </a:t>
            </a:r>
            <a:r>
              <a:rPr lang="en-US" sz="1700" dirty="0" err="1"/>
              <a:t>área</a:t>
            </a:r>
            <a:r>
              <a:rPr lang="en-US" sz="1700" dirty="0"/>
              <a:t> de </a:t>
            </a:r>
            <a:r>
              <a:rPr lang="en-US" sz="1700" dirty="0" err="1"/>
              <a:t>Tecnologia</a:t>
            </a:r>
            <a:endParaRPr lang="en-US" sz="1700" dirty="0"/>
          </a:p>
          <a:p>
            <a:r>
              <a:rPr lang="en-US" sz="1700" dirty="0"/>
              <a:t>Community Leader, Autor Técnico e </a:t>
            </a:r>
            <a:r>
              <a:rPr lang="en-US" sz="1700" dirty="0" err="1"/>
              <a:t>Palestrante</a:t>
            </a:r>
            <a:endParaRPr lang="en-US" sz="1700" dirty="0"/>
          </a:p>
        </p:txBody>
      </p:sp>
      <p:sp>
        <p:nvSpPr>
          <p:cNvPr id="79" name="Google Shape;79;p4"/>
          <p:cNvSpPr txBox="1"/>
          <p:nvPr/>
        </p:nvSpPr>
        <p:spPr>
          <a:xfrm>
            <a:off x="234105" y="4501381"/>
            <a:ext cx="86739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62163"/>
              <a:buFont typeface="Average"/>
              <a:buNone/>
            </a:pPr>
            <a:r>
              <a:rPr lang="en-US" sz="12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VIXES</a:t>
            </a:r>
            <a:endParaRPr sz="1200" b="0" i="0" u="none" strike="noStrike" cap="none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114300" marR="0" lvl="0" indent="0" algn="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94595"/>
              <a:buFont typeface="Average"/>
              <a:buNone/>
            </a:pPr>
            <a:r>
              <a:rPr lang="en-US"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www.ties.dev.br</a:t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8095920" y="174136"/>
            <a:ext cx="811500" cy="327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5538F01-23C4-3B84-BDA1-E52BD88F6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9617" y="574007"/>
            <a:ext cx="1609243" cy="1785568"/>
          </a:xfrm>
          <a:prstGeom prst="rect">
            <a:avLst/>
          </a:prstGeom>
        </p:spPr>
      </p:pic>
      <p:pic>
        <p:nvPicPr>
          <p:cNvPr id="5" name="Imagem 4" descr="Código QR&#10;&#10;O conteúdo gerado por IA pode estar incorreto.">
            <a:extLst>
              <a:ext uri="{FF2B5EF4-FFF2-40B4-BE49-F238E27FC236}">
                <a16:creationId xmlns:a16="http://schemas.microsoft.com/office/drawing/2014/main" id="{88D616C7-D95B-CE12-78EC-8E9834547E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2901" y="2436125"/>
            <a:ext cx="1949218" cy="194921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F3D7F9A4-0ACF-3F54-ADFD-C2668472F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imagem do perfil">
            <a:extLst>
              <a:ext uri="{FF2B5EF4-FFF2-40B4-BE49-F238E27FC236}">
                <a16:creationId xmlns:a16="http://schemas.microsoft.com/office/drawing/2014/main" id="{A325FB0F-5D96-D9AD-699A-4F48405408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8671" y="597952"/>
            <a:ext cx="1737677" cy="173767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7" name="Google Shape;77;p4">
            <a:extLst>
              <a:ext uri="{FF2B5EF4-FFF2-40B4-BE49-F238E27FC236}">
                <a16:creationId xmlns:a16="http://schemas.microsoft.com/office/drawing/2014/main" id="{76536820-D481-863A-59A6-55ED71B816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4200" dirty="0"/>
              <a:t>Milton Camara</a:t>
            </a:r>
            <a:endParaRPr dirty="0"/>
          </a:p>
        </p:txBody>
      </p:sp>
      <p:sp>
        <p:nvSpPr>
          <p:cNvPr id="78" name="Google Shape;78;p4">
            <a:extLst>
              <a:ext uri="{FF2B5EF4-FFF2-40B4-BE49-F238E27FC236}">
                <a16:creationId xmlns:a16="http://schemas.microsoft.com/office/drawing/2014/main" id="{3E3D20CD-683B-E3BE-2181-F7E0CAEF6C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310275"/>
            <a:ext cx="8520600" cy="31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pt-BR" sz="1700" dirty="0"/>
              <a:t>Microsoft Most </a:t>
            </a:r>
            <a:r>
              <a:rPr lang="pt-BR" sz="1700" dirty="0" err="1"/>
              <a:t>Valuable</a:t>
            </a:r>
            <a:r>
              <a:rPr lang="pt-BR" sz="1700" dirty="0"/>
              <a:t> Professional (MVP)</a:t>
            </a:r>
          </a:p>
          <a:p>
            <a:r>
              <a:rPr lang="pt-BR" sz="1700" dirty="0"/>
              <a:t>Head de Engenharia – </a:t>
            </a:r>
            <a:r>
              <a:rPr lang="pt-BR" sz="1700" dirty="0" err="1"/>
              <a:t>Robbu</a:t>
            </a:r>
            <a:r>
              <a:rPr lang="pt-BR" sz="1700" dirty="0"/>
              <a:t> Tecnologia</a:t>
            </a:r>
          </a:p>
          <a:p>
            <a:r>
              <a:rPr lang="pt-BR" sz="1700" dirty="0"/>
              <a:t>Arquiteto de Soluções/Software</a:t>
            </a:r>
          </a:p>
          <a:p>
            <a:r>
              <a:rPr lang="pt-BR" sz="1700" dirty="0"/>
              <a:t>+20 anos de experiência na área de Tecnologia</a:t>
            </a:r>
          </a:p>
          <a:p>
            <a:r>
              <a:rPr lang="pt-BR" sz="1700" dirty="0"/>
              <a:t>Community </a:t>
            </a:r>
            <a:r>
              <a:rPr lang="pt-BR" sz="1700" dirty="0" err="1"/>
              <a:t>Leader</a:t>
            </a:r>
            <a:r>
              <a:rPr lang="pt-BR" sz="1700" dirty="0"/>
              <a:t>, Autor Técnico e Palestrante</a:t>
            </a:r>
          </a:p>
        </p:txBody>
      </p:sp>
      <p:sp>
        <p:nvSpPr>
          <p:cNvPr id="79" name="Google Shape;79;p4">
            <a:extLst>
              <a:ext uri="{FF2B5EF4-FFF2-40B4-BE49-F238E27FC236}">
                <a16:creationId xmlns:a16="http://schemas.microsoft.com/office/drawing/2014/main" id="{071CF2C0-8981-D738-EC7F-71653F2D06F1}"/>
              </a:ext>
            </a:extLst>
          </p:cNvPr>
          <p:cNvSpPr txBox="1"/>
          <p:nvPr/>
        </p:nvSpPr>
        <p:spPr>
          <a:xfrm>
            <a:off x="234105" y="4501381"/>
            <a:ext cx="86739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62163"/>
              <a:buFont typeface="Average"/>
              <a:buNone/>
            </a:pPr>
            <a:r>
              <a:rPr lang="en-US" sz="12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VIXES</a:t>
            </a:r>
            <a:endParaRPr sz="1200" b="0" i="0" u="none" strike="noStrike" cap="none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114300" marR="0" lvl="0" indent="0" algn="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94595"/>
              <a:buFont typeface="Average"/>
              <a:buNone/>
            </a:pPr>
            <a:r>
              <a:rPr lang="en-US"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www.ties.dev.br</a:t>
            </a:r>
            <a:endParaRPr/>
          </a:p>
        </p:txBody>
      </p:sp>
      <p:sp>
        <p:nvSpPr>
          <p:cNvPr id="80" name="Google Shape;80;p4">
            <a:extLst>
              <a:ext uri="{FF2B5EF4-FFF2-40B4-BE49-F238E27FC236}">
                <a16:creationId xmlns:a16="http://schemas.microsoft.com/office/drawing/2014/main" id="{5D4D2F49-0E35-D26D-FBB3-A228C3BCD139}"/>
              </a:ext>
            </a:extLst>
          </p:cNvPr>
          <p:cNvSpPr/>
          <p:nvPr/>
        </p:nvSpPr>
        <p:spPr>
          <a:xfrm>
            <a:off x="8095920" y="174136"/>
            <a:ext cx="811500" cy="327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7" name="Picture 12">
            <a:extLst>
              <a:ext uri="{FF2B5EF4-FFF2-40B4-BE49-F238E27FC236}">
                <a16:creationId xmlns:a16="http://schemas.microsoft.com/office/drawing/2014/main" id="{29526574-E62F-B14D-0A28-71C267CC5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2591" y="2485485"/>
            <a:ext cx="1984875" cy="1949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589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526252BA-BB4F-CB51-4ABA-F75AEB73E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>
            <a:extLst>
              <a:ext uri="{FF2B5EF4-FFF2-40B4-BE49-F238E27FC236}">
                <a16:creationId xmlns:a16="http://schemas.microsoft.com/office/drawing/2014/main" id="{771A79F2-8312-DD6C-83AD-CC0B75D72A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4200" dirty="0" err="1"/>
              <a:t>Conteúdos</a:t>
            </a:r>
            <a:r>
              <a:rPr lang="en-US" sz="4200" dirty="0"/>
              <a:t> </a:t>
            </a:r>
            <a:r>
              <a:rPr lang="en-US" sz="4200" dirty="0" err="1"/>
              <a:t>desta</a:t>
            </a:r>
            <a:r>
              <a:rPr lang="en-US" sz="4200" dirty="0"/>
              <a:t> </a:t>
            </a:r>
            <a:r>
              <a:rPr lang="en-US" sz="4200" dirty="0" err="1"/>
              <a:t>apresentação</a:t>
            </a:r>
            <a:endParaRPr dirty="0"/>
          </a:p>
        </p:txBody>
      </p:sp>
      <p:sp>
        <p:nvSpPr>
          <p:cNvPr id="79" name="Google Shape;79;p4">
            <a:extLst>
              <a:ext uri="{FF2B5EF4-FFF2-40B4-BE49-F238E27FC236}">
                <a16:creationId xmlns:a16="http://schemas.microsoft.com/office/drawing/2014/main" id="{2F37C303-31A1-ECB7-6FED-AD346F7534B0}"/>
              </a:ext>
            </a:extLst>
          </p:cNvPr>
          <p:cNvSpPr txBox="1"/>
          <p:nvPr/>
        </p:nvSpPr>
        <p:spPr>
          <a:xfrm>
            <a:off x="234105" y="4501381"/>
            <a:ext cx="86739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62163"/>
              <a:buFont typeface="Average"/>
              <a:buNone/>
            </a:pPr>
            <a:r>
              <a:rPr lang="en-US" sz="12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VIXES</a:t>
            </a:r>
            <a:endParaRPr sz="1200" b="0" i="0" u="none" strike="noStrike" cap="none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114300" marR="0" lvl="0" indent="0" algn="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94595"/>
              <a:buFont typeface="Average"/>
              <a:buNone/>
            </a:pPr>
            <a:r>
              <a:rPr lang="en-US"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www.ties.dev.br</a:t>
            </a:r>
            <a:endParaRPr/>
          </a:p>
        </p:txBody>
      </p:sp>
      <p:sp>
        <p:nvSpPr>
          <p:cNvPr id="80" name="Google Shape;80;p4">
            <a:extLst>
              <a:ext uri="{FF2B5EF4-FFF2-40B4-BE49-F238E27FC236}">
                <a16:creationId xmlns:a16="http://schemas.microsoft.com/office/drawing/2014/main" id="{D7AECCA1-6B18-2930-CA04-F28F0C7AA99E}"/>
              </a:ext>
            </a:extLst>
          </p:cNvPr>
          <p:cNvSpPr/>
          <p:nvPr/>
        </p:nvSpPr>
        <p:spPr>
          <a:xfrm>
            <a:off x="8095920" y="174136"/>
            <a:ext cx="811500" cy="327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DE30D3B-DA43-943D-FAA2-2BE5D65DDD4D}"/>
              </a:ext>
            </a:extLst>
          </p:cNvPr>
          <p:cNvSpPr>
            <a:spLocks noGrp="1"/>
          </p:cNvSpPr>
          <p:nvPr/>
        </p:nvSpPr>
        <p:spPr>
          <a:xfrm>
            <a:off x="404435" y="3022919"/>
            <a:ext cx="8300294" cy="433965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 vert="horz" wrap="square" lIns="146304" tIns="91440" rIns="146304" bIns="9144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4000" kern="1200" spc="0" baseline="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2286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4572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6858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800" b="1" dirty="0">
                <a:solidFill>
                  <a:schemeClr val="tx1"/>
                </a:solidFill>
              </a:rPr>
              <a:t>github.com/renatogroffe/ai-gateways_data-ai-saturday-vitoria-2026-09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B251E9C9-3C3F-DACF-3F89-89DA00D705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7407" y="3551011"/>
            <a:ext cx="996280" cy="99628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20C91255-F973-78DF-B299-102421F8BB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42497" y="3632697"/>
            <a:ext cx="996281" cy="84010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A9EEA072-FABD-15DB-6E50-3397A0D572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108" y="3610911"/>
            <a:ext cx="876742" cy="87674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99949C8A-976C-C6F5-8E8C-302042D32F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5655" y="3624385"/>
            <a:ext cx="848420" cy="84842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B53C97D8-90EA-383F-36CE-D54DD24DAC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59719" y="3624385"/>
            <a:ext cx="947506" cy="84842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7DE0E8A7-51E2-8971-AE6A-7AA8CE97DA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51820" y="1304652"/>
            <a:ext cx="1547454" cy="1547454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B13D442-D8DF-C855-4398-F77ECE5266C1}"/>
              </a:ext>
            </a:extLst>
          </p:cNvPr>
          <p:cNvSpPr txBox="1">
            <a:spLocks/>
          </p:cNvSpPr>
          <p:nvPr/>
        </p:nvSpPr>
        <p:spPr>
          <a:xfrm>
            <a:off x="5230425" y="1597246"/>
            <a:ext cx="3676995" cy="117369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1667"/>
              </a:lnSpc>
              <a:spcAft>
                <a:spcPts val="11004"/>
              </a:spcAft>
              <a:buNone/>
            </a:pPr>
            <a:r>
              <a:rPr lang="pt-BR" sz="2800" dirty="0">
                <a:latin typeface="Maven Pro Black" pitchFamily="2" charset="77"/>
                <a:cs typeface="Maven Pro Regular" pitchFamily="34" charset="-120"/>
              </a:rPr>
              <a:t>Deixem um star </a:t>
            </a:r>
            <a:r>
              <a:rPr lang="pt-BR" sz="2800" dirty="0">
                <a:latin typeface="Maven Pro Regular" pitchFamily="34" charset="0"/>
                <a:cs typeface="Maven Pro Regular" pitchFamily="34" charset="-120"/>
              </a:rPr>
              <a:t>⭐</a:t>
            </a:r>
            <a:r>
              <a:rPr lang="pt-BR" sz="2800" dirty="0">
                <a:latin typeface="Maven Pro Black" pitchFamily="2" charset="77"/>
                <a:cs typeface="Maven Pro Regular" pitchFamily="34" charset="-120"/>
              </a:rPr>
              <a:t> </a:t>
            </a:r>
            <a:r>
              <a:rPr lang="en-US" sz="2800" dirty="0" err="1">
                <a:latin typeface="Maven Pro Black" pitchFamily="2" charset="77"/>
                <a:cs typeface="Maven Pro Regular" pitchFamily="34" charset="-120"/>
              </a:rPr>
              <a:t>apoiando</a:t>
            </a:r>
            <a:endParaRPr lang="pt-BR" sz="2800" dirty="0">
              <a:latin typeface="Maven Pro Black" pitchFamily="2" charset="77"/>
              <a:cs typeface="Maven Pro Regular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47471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01DA65AB-74DA-8FE7-5732-E40F8EB30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>
            <a:extLst>
              <a:ext uri="{FF2B5EF4-FFF2-40B4-BE49-F238E27FC236}">
                <a16:creationId xmlns:a16="http://schemas.microsoft.com/office/drawing/2014/main" id="{ACE3D084-773F-8C09-829D-288F92A75C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4200" dirty="0"/>
              <a:t>Agenda</a:t>
            </a:r>
            <a:endParaRPr dirty="0"/>
          </a:p>
        </p:txBody>
      </p:sp>
      <p:sp>
        <p:nvSpPr>
          <p:cNvPr id="78" name="Google Shape;78;p4">
            <a:extLst>
              <a:ext uri="{FF2B5EF4-FFF2-40B4-BE49-F238E27FC236}">
                <a16:creationId xmlns:a16="http://schemas.microsoft.com/office/drawing/2014/main" id="{86551C58-D005-470F-2288-622023F94A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819469"/>
            <a:ext cx="8520600" cy="2609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pt-BR" dirty="0"/>
              <a:t>AI Gateways: visão geral, possibilidades e alternativas</a:t>
            </a:r>
          </a:p>
          <a:p>
            <a:r>
              <a:rPr lang="pt-BR" dirty="0"/>
              <a:t>Exemplos práticos</a:t>
            </a:r>
          </a:p>
        </p:txBody>
      </p:sp>
      <p:sp>
        <p:nvSpPr>
          <p:cNvPr id="79" name="Google Shape;79;p4">
            <a:extLst>
              <a:ext uri="{FF2B5EF4-FFF2-40B4-BE49-F238E27FC236}">
                <a16:creationId xmlns:a16="http://schemas.microsoft.com/office/drawing/2014/main" id="{3179E828-404A-9AC4-EF01-D27F95B54C1F}"/>
              </a:ext>
            </a:extLst>
          </p:cNvPr>
          <p:cNvSpPr txBox="1"/>
          <p:nvPr/>
        </p:nvSpPr>
        <p:spPr>
          <a:xfrm>
            <a:off x="234105" y="4501381"/>
            <a:ext cx="86739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62163"/>
              <a:buFont typeface="Average"/>
              <a:buNone/>
            </a:pPr>
            <a:r>
              <a:rPr lang="en-US" sz="12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VIXES</a:t>
            </a:r>
            <a:endParaRPr sz="1200" b="0" i="0" u="none" strike="noStrike" cap="none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114300" marR="0" lvl="0" indent="0" algn="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94595"/>
              <a:buFont typeface="Average"/>
              <a:buNone/>
            </a:pPr>
            <a:r>
              <a:rPr lang="en-US"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www.ties.dev.br</a:t>
            </a:r>
            <a:endParaRPr/>
          </a:p>
        </p:txBody>
      </p:sp>
      <p:sp>
        <p:nvSpPr>
          <p:cNvPr id="80" name="Google Shape;80;p4">
            <a:extLst>
              <a:ext uri="{FF2B5EF4-FFF2-40B4-BE49-F238E27FC236}">
                <a16:creationId xmlns:a16="http://schemas.microsoft.com/office/drawing/2014/main" id="{607D7243-DACB-6635-26F0-F5079286256F}"/>
              </a:ext>
            </a:extLst>
          </p:cNvPr>
          <p:cNvSpPr/>
          <p:nvPr/>
        </p:nvSpPr>
        <p:spPr>
          <a:xfrm>
            <a:off x="8095920" y="174136"/>
            <a:ext cx="811500" cy="327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D75C4082-251A-6529-7437-2DD1E47726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7407" y="3551011"/>
            <a:ext cx="996280" cy="996280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9AF1EA76-7DFD-2076-FAD2-FC25755662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42497" y="3632697"/>
            <a:ext cx="996281" cy="84010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120F341E-B6CC-73C1-D729-6418C7C008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108" y="3610911"/>
            <a:ext cx="876742" cy="87674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B87B846A-75EE-6628-AD4B-A72E1141C8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5655" y="3624385"/>
            <a:ext cx="848420" cy="84842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EF328369-69A9-DB7D-7FDA-5903C7B38B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59719" y="3624385"/>
            <a:ext cx="947506" cy="84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209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4FED1841-6E76-CDE9-2AD6-2AD193901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>
            <a:extLst>
              <a:ext uri="{FF2B5EF4-FFF2-40B4-BE49-F238E27FC236}">
                <a16:creationId xmlns:a16="http://schemas.microsoft.com/office/drawing/2014/main" id="{5938C4CA-04B8-07C1-69B1-AD054E6067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4200" dirty="0"/>
              <a:t>O que é um AI Gateway?</a:t>
            </a:r>
            <a:endParaRPr dirty="0"/>
          </a:p>
        </p:txBody>
      </p:sp>
      <p:sp>
        <p:nvSpPr>
          <p:cNvPr id="78" name="Google Shape;78;p4">
            <a:extLst>
              <a:ext uri="{FF2B5EF4-FFF2-40B4-BE49-F238E27FC236}">
                <a16:creationId xmlns:a16="http://schemas.microsoft.com/office/drawing/2014/main" id="{8285D1BD-917F-7BD9-5DE6-576305D249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310275"/>
            <a:ext cx="5673955" cy="31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pt-BR" dirty="0"/>
              <a:t>Ponto central de acesso aos modelos de IA</a:t>
            </a:r>
          </a:p>
          <a:p>
            <a:endParaRPr lang="pt-BR" dirty="0"/>
          </a:p>
          <a:p>
            <a:r>
              <a:rPr lang="pt-BR" dirty="0"/>
              <a:t>Centraliza chamadas para diferentes provedores</a:t>
            </a:r>
          </a:p>
          <a:p>
            <a:endParaRPr lang="pt-BR" dirty="0"/>
          </a:p>
          <a:p>
            <a:r>
              <a:rPr lang="pt-BR" dirty="0"/>
              <a:t>Abstrai detalhes dos modelos e APIs</a:t>
            </a:r>
          </a:p>
          <a:p>
            <a:endParaRPr lang="pt-BR" dirty="0"/>
          </a:p>
          <a:p>
            <a:r>
              <a:rPr lang="pt-BR" dirty="0"/>
              <a:t>Aplica políticas antes das requisições</a:t>
            </a:r>
          </a:p>
          <a:p>
            <a:endParaRPr lang="pt-BR" dirty="0"/>
          </a:p>
          <a:p>
            <a:r>
              <a:rPr lang="pt-BR" dirty="0"/>
              <a:t>Facilita o gerenciamento de aplicações de IA</a:t>
            </a:r>
          </a:p>
        </p:txBody>
      </p:sp>
      <p:sp>
        <p:nvSpPr>
          <p:cNvPr id="79" name="Google Shape;79;p4">
            <a:extLst>
              <a:ext uri="{FF2B5EF4-FFF2-40B4-BE49-F238E27FC236}">
                <a16:creationId xmlns:a16="http://schemas.microsoft.com/office/drawing/2014/main" id="{94305BA7-9E3E-9791-E188-D056AEDBBBAF}"/>
              </a:ext>
            </a:extLst>
          </p:cNvPr>
          <p:cNvSpPr txBox="1"/>
          <p:nvPr/>
        </p:nvSpPr>
        <p:spPr>
          <a:xfrm>
            <a:off x="234105" y="4501381"/>
            <a:ext cx="86739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62163"/>
              <a:buFont typeface="Average"/>
              <a:buNone/>
            </a:pPr>
            <a:r>
              <a:rPr lang="en-US" sz="12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VIXES</a:t>
            </a:r>
            <a:endParaRPr sz="1200" b="0" i="0" u="none" strike="noStrike" cap="none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114300" marR="0" lvl="0" indent="0" algn="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94595"/>
              <a:buFont typeface="Average"/>
              <a:buNone/>
            </a:pPr>
            <a:r>
              <a:rPr lang="en-US"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www.ties.dev.br</a:t>
            </a:r>
            <a:endParaRPr/>
          </a:p>
        </p:txBody>
      </p:sp>
      <p:sp>
        <p:nvSpPr>
          <p:cNvPr id="80" name="Google Shape;80;p4">
            <a:extLst>
              <a:ext uri="{FF2B5EF4-FFF2-40B4-BE49-F238E27FC236}">
                <a16:creationId xmlns:a16="http://schemas.microsoft.com/office/drawing/2014/main" id="{53A66828-AFFF-4241-650C-D4E7D3A757C9}"/>
              </a:ext>
            </a:extLst>
          </p:cNvPr>
          <p:cNvSpPr/>
          <p:nvPr/>
        </p:nvSpPr>
        <p:spPr>
          <a:xfrm>
            <a:off x="8095920" y="174136"/>
            <a:ext cx="811500" cy="327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B7C37ADA-5017-E98B-8E8E-CEE2E503B5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36020" y="1805602"/>
            <a:ext cx="996280" cy="99628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E36142BA-7A34-9588-4D5A-5EE235704F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1110" y="1887288"/>
            <a:ext cx="996281" cy="84010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8D39F726-E6B8-7A05-490D-B765A2D5E8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8721" y="1865502"/>
            <a:ext cx="876742" cy="876742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724DF74A-505E-FE13-FFDA-4DFBE206B9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5740" y="2878432"/>
            <a:ext cx="848420" cy="848420"/>
          </a:xfrm>
          <a:prstGeom prst="rect">
            <a:avLst/>
          </a:prstGeom>
        </p:spPr>
      </p:pic>
      <p:pic>
        <p:nvPicPr>
          <p:cNvPr id="16" name="Gráfico 15">
            <a:extLst>
              <a:ext uri="{FF2B5EF4-FFF2-40B4-BE49-F238E27FC236}">
                <a16:creationId xmlns:a16="http://schemas.microsoft.com/office/drawing/2014/main" id="{8AEC720D-15E5-2D84-EBC7-2A5B7A7596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59804" y="2878432"/>
            <a:ext cx="947506" cy="84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894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C5AACC2A-BB22-2032-4D2A-A74173474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>
            <a:extLst>
              <a:ext uri="{FF2B5EF4-FFF2-40B4-BE49-F238E27FC236}">
                <a16:creationId xmlns:a16="http://schemas.microsoft.com/office/drawing/2014/main" id="{6F11A36C-AB7B-8E72-660A-F64A4137FE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4200" dirty="0"/>
              <a:t>Por que utilizar um AI Gateway?</a:t>
            </a:r>
            <a:endParaRPr dirty="0"/>
          </a:p>
        </p:txBody>
      </p:sp>
      <p:sp>
        <p:nvSpPr>
          <p:cNvPr id="78" name="Google Shape;78;p4">
            <a:extLst>
              <a:ext uri="{FF2B5EF4-FFF2-40B4-BE49-F238E27FC236}">
                <a16:creationId xmlns:a16="http://schemas.microsoft.com/office/drawing/2014/main" id="{98B6ABC9-B978-2161-C1AA-8AB4003C35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310275"/>
            <a:ext cx="5673955" cy="31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r>
              <a:rPr lang="pt-BR" b="1" dirty="0"/>
              <a:t>Governança</a:t>
            </a:r>
            <a:r>
              <a:rPr lang="pt-BR" dirty="0"/>
              <a:t>: políticas centralizadas para uso de IA</a:t>
            </a:r>
          </a:p>
          <a:p>
            <a:endParaRPr lang="pt-BR" dirty="0"/>
          </a:p>
          <a:p>
            <a:r>
              <a:rPr lang="pt-BR" b="1" dirty="0"/>
              <a:t>Segurança</a:t>
            </a:r>
            <a:r>
              <a:rPr lang="pt-BR" dirty="0"/>
              <a:t>: controle de acesso, proteção dos </a:t>
            </a:r>
            <a:r>
              <a:rPr lang="pt-BR" dirty="0" err="1"/>
              <a:t>endpoints</a:t>
            </a:r>
            <a:r>
              <a:rPr lang="pt-BR" dirty="0"/>
              <a:t>, uso de </a:t>
            </a:r>
            <a:r>
              <a:rPr lang="pt-BR" dirty="0" err="1"/>
              <a:t>guardrails</a:t>
            </a:r>
            <a:r>
              <a:rPr lang="pt-BR" dirty="0"/>
              <a:t> sem grandes alterações em aplicações, restringir o acesso a chaves/credenciais e facilitar o rotacionamento...</a:t>
            </a:r>
          </a:p>
          <a:p>
            <a:endParaRPr lang="pt-BR" dirty="0"/>
          </a:p>
          <a:p>
            <a:r>
              <a:rPr lang="pt-BR" b="1" dirty="0" err="1"/>
              <a:t>Observabilidade</a:t>
            </a:r>
            <a:r>
              <a:rPr lang="pt-BR" dirty="0"/>
              <a:t>: métricas, logs e rastreamento</a:t>
            </a:r>
          </a:p>
          <a:p>
            <a:endParaRPr lang="pt-BR" dirty="0"/>
          </a:p>
          <a:p>
            <a:r>
              <a:rPr lang="pt-BR" b="1" dirty="0"/>
              <a:t>Custos</a:t>
            </a:r>
            <a:r>
              <a:rPr lang="pt-BR" dirty="0"/>
              <a:t>: controle e acompanhamento do consumo</a:t>
            </a:r>
          </a:p>
          <a:p>
            <a:endParaRPr lang="pt-BR" dirty="0"/>
          </a:p>
          <a:p>
            <a:r>
              <a:rPr lang="pt-BR" b="1" dirty="0"/>
              <a:t>Flexibilidade</a:t>
            </a:r>
            <a:r>
              <a:rPr lang="pt-BR" dirty="0"/>
              <a:t>: troca de modelos sem alterar aplicações, padronização de </a:t>
            </a:r>
            <a:r>
              <a:rPr lang="pt-BR" dirty="0" err="1"/>
              <a:t>payloads</a:t>
            </a:r>
            <a:r>
              <a:rPr lang="pt-BR" dirty="0"/>
              <a:t> de </a:t>
            </a:r>
            <a:r>
              <a:rPr lang="pt-BR" dirty="0" err="1"/>
              <a:t>request</a:t>
            </a:r>
            <a:r>
              <a:rPr lang="pt-BR" dirty="0"/>
              <a:t> e response...</a:t>
            </a:r>
          </a:p>
        </p:txBody>
      </p:sp>
      <p:sp>
        <p:nvSpPr>
          <p:cNvPr id="79" name="Google Shape;79;p4">
            <a:extLst>
              <a:ext uri="{FF2B5EF4-FFF2-40B4-BE49-F238E27FC236}">
                <a16:creationId xmlns:a16="http://schemas.microsoft.com/office/drawing/2014/main" id="{BF26BC6A-BDB1-6EC0-5D93-9EE5C85F3D45}"/>
              </a:ext>
            </a:extLst>
          </p:cNvPr>
          <p:cNvSpPr txBox="1"/>
          <p:nvPr/>
        </p:nvSpPr>
        <p:spPr>
          <a:xfrm>
            <a:off x="234105" y="4501381"/>
            <a:ext cx="86739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62163"/>
              <a:buFont typeface="Average"/>
              <a:buNone/>
            </a:pPr>
            <a:r>
              <a:rPr lang="en-US" sz="12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VIXES</a:t>
            </a:r>
            <a:endParaRPr sz="1200" b="0" i="0" u="none" strike="noStrike" cap="none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114300" marR="0" lvl="0" indent="0" algn="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94595"/>
              <a:buFont typeface="Average"/>
              <a:buNone/>
            </a:pPr>
            <a:r>
              <a:rPr lang="en-US"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www.ties.dev.br</a:t>
            </a:r>
            <a:endParaRPr/>
          </a:p>
        </p:txBody>
      </p:sp>
      <p:sp>
        <p:nvSpPr>
          <p:cNvPr id="80" name="Google Shape;80;p4">
            <a:extLst>
              <a:ext uri="{FF2B5EF4-FFF2-40B4-BE49-F238E27FC236}">
                <a16:creationId xmlns:a16="http://schemas.microsoft.com/office/drawing/2014/main" id="{CA3C4D5C-A79D-71CC-5E78-147631C75423}"/>
              </a:ext>
            </a:extLst>
          </p:cNvPr>
          <p:cNvSpPr/>
          <p:nvPr/>
        </p:nvSpPr>
        <p:spPr>
          <a:xfrm>
            <a:off x="8095920" y="174136"/>
            <a:ext cx="811500" cy="327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50953637-761B-4E30-9E0B-E7C0F95EC0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36020" y="1805602"/>
            <a:ext cx="996280" cy="996280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C00C0CEC-3A7F-3E32-F403-E9E0997C0F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1110" y="1887288"/>
            <a:ext cx="996281" cy="84010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12F5C5D5-484D-03C8-E985-DAE8F22564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8721" y="1865502"/>
            <a:ext cx="876742" cy="87674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7B6FBD69-8BE7-E8DC-A3D2-BD30E49156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5740" y="2878432"/>
            <a:ext cx="848420" cy="84842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DD4EEED2-4C8F-9D46-3F29-D5F828FE59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59804" y="2878432"/>
            <a:ext cx="947506" cy="84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238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07A97AB1-ACFF-1B4D-FFF3-F113D0DB4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>
            <a:extLst>
              <a:ext uri="{FF2B5EF4-FFF2-40B4-BE49-F238E27FC236}">
                <a16:creationId xmlns:a16="http://schemas.microsoft.com/office/drawing/2014/main" id="{7BB50AB3-CBC6-9C2F-7D50-A9C761D517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4200" dirty="0"/>
              <a:t>AI Gateways x Segurança</a:t>
            </a:r>
            <a:endParaRPr dirty="0"/>
          </a:p>
        </p:txBody>
      </p:sp>
      <p:sp>
        <p:nvSpPr>
          <p:cNvPr id="78" name="Google Shape;78;p4">
            <a:extLst>
              <a:ext uri="{FF2B5EF4-FFF2-40B4-BE49-F238E27FC236}">
                <a16:creationId xmlns:a16="http://schemas.microsoft.com/office/drawing/2014/main" id="{0CFCD389-ACB4-2570-20C8-01874218F3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310275"/>
            <a:ext cx="5673955" cy="31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pt-BR" dirty="0"/>
              <a:t>Autenticação e autorização centralizadas</a:t>
            </a:r>
          </a:p>
          <a:p>
            <a:endParaRPr lang="pt-BR" dirty="0"/>
          </a:p>
          <a:p>
            <a:r>
              <a:rPr lang="pt-BR" dirty="0"/>
              <a:t>Controle de acesso por aplicação ou usuário</a:t>
            </a:r>
          </a:p>
          <a:p>
            <a:endParaRPr lang="pt-BR" dirty="0"/>
          </a:p>
          <a:p>
            <a:r>
              <a:rPr lang="pt-BR" dirty="0"/>
              <a:t>Rate </a:t>
            </a:r>
            <a:r>
              <a:rPr lang="pt-BR" dirty="0" err="1"/>
              <a:t>limiting</a:t>
            </a:r>
            <a:r>
              <a:rPr lang="pt-BR" dirty="0"/>
              <a:t> e proteção contra abusos</a:t>
            </a:r>
          </a:p>
          <a:p>
            <a:endParaRPr lang="pt-BR" dirty="0"/>
          </a:p>
          <a:p>
            <a:r>
              <a:rPr lang="pt-BR" dirty="0"/>
              <a:t>Gerenciamento seguro de credenciais</a:t>
            </a:r>
          </a:p>
          <a:p>
            <a:endParaRPr lang="pt-BR" dirty="0"/>
          </a:p>
          <a:p>
            <a:r>
              <a:rPr lang="pt-BR" dirty="0"/>
              <a:t>Filtros/</a:t>
            </a:r>
            <a:r>
              <a:rPr lang="pt-BR" dirty="0" err="1"/>
              <a:t>Guardrails</a:t>
            </a:r>
            <a:r>
              <a:rPr lang="pt-BR" dirty="0"/>
              <a:t> para requisições e respostas</a:t>
            </a:r>
          </a:p>
        </p:txBody>
      </p:sp>
      <p:sp>
        <p:nvSpPr>
          <p:cNvPr id="79" name="Google Shape;79;p4">
            <a:extLst>
              <a:ext uri="{FF2B5EF4-FFF2-40B4-BE49-F238E27FC236}">
                <a16:creationId xmlns:a16="http://schemas.microsoft.com/office/drawing/2014/main" id="{10AC0EA3-F30F-157B-868C-6E53C9C8BE84}"/>
              </a:ext>
            </a:extLst>
          </p:cNvPr>
          <p:cNvSpPr txBox="1"/>
          <p:nvPr/>
        </p:nvSpPr>
        <p:spPr>
          <a:xfrm>
            <a:off x="234105" y="4501381"/>
            <a:ext cx="86739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62163"/>
              <a:buFont typeface="Average"/>
              <a:buNone/>
            </a:pPr>
            <a:r>
              <a:rPr lang="en-US" sz="12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VIXES</a:t>
            </a:r>
            <a:endParaRPr sz="1200" b="0" i="0" u="none" strike="noStrike" cap="none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114300" marR="0" lvl="0" indent="0" algn="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94595"/>
              <a:buFont typeface="Average"/>
              <a:buNone/>
            </a:pPr>
            <a:r>
              <a:rPr lang="en-US"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www.ties.dev.br</a:t>
            </a:r>
            <a:endParaRPr/>
          </a:p>
        </p:txBody>
      </p:sp>
      <p:sp>
        <p:nvSpPr>
          <p:cNvPr id="80" name="Google Shape;80;p4">
            <a:extLst>
              <a:ext uri="{FF2B5EF4-FFF2-40B4-BE49-F238E27FC236}">
                <a16:creationId xmlns:a16="http://schemas.microsoft.com/office/drawing/2014/main" id="{4A362C93-DC18-2B0B-09BD-33DB877FC0D8}"/>
              </a:ext>
            </a:extLst>
          </p:cNvPr>
          <p:cNvSpPr/>
          <p:nvPr/>
        </p:nvSpPr>
        <p:spPr>
          <a:xfrm>
            <a:off x="8095920" y="174136"/>
            <a:ext cx="811500" cy="327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9F82E14E-E6C9-98FD-1769-9999198AA3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36020" y="1805602"/>
            <a:ext cx="996280" cy="996280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2EBE51B8-22C5-E754-28AF-B091054413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1110" y="1887288"/>
            <a:ext cx="996281" cy="84010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F1B36AC6-A3B8-DA58-9CA9-9767BF55E9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8721" y="1865502"/>
            <a:ext cx="876742" cy="87674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8D72DEEA-0C27-CA8F-16B1-175516B7DF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5740" y="2878432"/>
            <a:ext cx="848420" cy="84842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0988FE21-863C-9334-AD5D-5EB8C24A25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59804" y="2878432"/>
            <a:ext cx="947506" cy="84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877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BB9A3A9E-426A-1742-CC23-CDFEF680E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>
            <a:extLst>
              <a:ext uri="{FF2B5EF4-FFF2-40B4-BE49-F238E27FC236}">
                <a16:creationId xmlns:a16="http://schemas.microsoft.com/office/drawing/2014/main" id="{59399698-623D-B90D-5C1A-79ADC5C0A2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4200" dirty="0"/>
              <a:t>Governança e Controle com AI Gateways</a:t>
            </a:r>
            <a:endParaRPr dirty="0"/>
          </a:p>
        </p:txBody>
      </p:sp>
      <p:sp>
        <p:nvSpPr>
          <p:cNvPr id="78" name="Google Shape;78;p4">
            <a:extLst>
              <a:ext uri="{FF2B5EF4-FFF2-40B4-BE49-F238E27FC236}">
                <a16:creationId xmlns:a16="http://schemas.microsoft.com/office/drawing/2014/main" id="{7CFA21EC-0EB1-E40B-05F0-6A034629DD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310275"/>
            <a:ext cx="5673955" cy="31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pt-BR" dirty="0"/>
              <a:t>Políticas de uso dos modelos</a:t>
            </a:r>
          </a:p>
          <a:p>
            <a:endParaRPr lang="pt-BR" dirty="0"/>
          </a:p>
          <a:p>
            <a:r>
              <a:rPr lang="pt-BR" dirty="0"/>
              <a:t>Limites de tokens e requisições</a:t>
            </a:r>
          </a:p>
          <a:p>
            <a:endParaRPr lang="pt-BR" dirty="0"/>
          </a:p>
          <a:p>
            <a:r>
              <a:rPr lang="pt-BR" dirty="0"/>
              <a:t>Controle de modelos e provedores permitidos</a:t>
            </a:r>
          </a:p>
          <a:p>
            <a:endParaRPr lang="pt-BR" dirty="0"/>
          </a:p>
          <a:p>
            <a:r>
              <a:rPr lang="pt-BR" dirty="0"/>
              <a:t>Auditoria e rastreabilidade das chamadas</a:t>
            </a:r>
          </a:p>
          <a:p>
            <a:endParaRPr lang="pt-BR" dirty="0"/>
          </a:p>
          <a:p>
            <a:r>
              <a:rPr lang="pt-BR" dirty="0"/>
              <a:t>Acompanhamento de custos (</a:t>
            </a:r>
            <a:r>
              <a:rPr lang="pt-BR" dirty="0" err="1"/>
              <a:t>FinOps</a:t>
            </a:r>
            <a:r>
              <a:rPr lang="pt-BR" dirty="0"/>
              <a:t>)</a:t>
            </a:r>
          </a:p>
        </p:txBody>
      </p:sp>
      <p:sp>
        <p:nvSpPr>
          <p:cNvPr id="79" name="Google Shape;79;p4">
            <a:extLst>
              <a:ext uri="{FF2B5EF4-FFF2-40B4-BE49-F238E27FC236}">
                <a16:creationId xmlns:a16="http://schemas.microsoft.com/office/drawing/2014/main" id="{57D19A53-DCF0-C317-A450-91449381FD1A}"/>
              </a:ext>
            </a:extLst>
          </p:cNvPr>
          <p:cNvSpPr txBox="1"/>
          <p:nvPr/>
        </p:nvSpPr>
        <p:spPr>
          <a:xfrm>
            <a:off x="234105" y="4501381"/>
            <a:ext cx="86739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62163"/>
              <a:buFont typeface="Average"/>
              <a:buNone/>
            </a:pPr>
            <a:r>
              <a:rPr lang="en-US" sz="12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VIXES</a:t>
            </a:r>
            <a:endParaRPr sz="1200" b="0" i="0" u="none" strike="noStrike" cap="none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114300" marR="0" lvl="0" indent="0" algn="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94595"/>
              <a:buFont typeface="Average"/>
              <a:buNone/>
            </a:pPr>
            <a:r>
              <a:rPr lang="en-US"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www.ties.dev.br</a:t>
            </a:r>
            <a:endParaRPr/>
          </a:p>
        </p:txBody>
      </p:sp>
      <p:sp>
        <p:nvSpPr>
          <p:cNvPr id="80" name="Google Shape;80;p4">
            <a:extLst>
              <a:ext uri="{FF2B5EF4-FFF2-40B4-BE49-F238E27FC236}">
                <a16:creationId xmlns:a16="http://schemas.microsoft.com/office/drawing/2014/main" id="{362CEFD7-D789-BBC3-3049-70E01B6AA310}"/>
              </a:ext>
            </a:extLst>
          </p:cNvPr>
          <p:cNvSpPr/>
          <p:nvPr/>
        </p:nvSpPr>
        <p:spPr>
          <a:xfrm>
            <a:off x="8095920" y="174136"/>
            <a:ext cx="811500" cy="327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BC714492-A62F-F6A5-CE68-1C9FDDB86B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36020" y="1805602"/>
            <a:ext cx="996280" cy="996280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6A680015-2394-3A38-4E69-D76C188DE4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1110" y="1887288"/>
            <a:ext cx="996281" cy="84010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B5BE962-20EE-CDAF-4CA3-ED2F38FB7E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8721" y="1865502"/>
            <a:ext cx="876742" cy="87674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59BEBA7F-7E58-1ADD-11FF-4A968D2193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5740" y="2878432"/>
            <a:ext cx="848420" cy="84842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7D58D1D6-9F20-BC72-A17E-358462D45B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59804" y="2878432"/>
            <a:ext cx="947506" cy="84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548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F591E21D-A16B-F967-FF29-25C111356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>
            <a:extLst>
              <a:ext uri="{FF2B5EF4-FFF2-40B4-BE49-F238E27FC236}">
                <a16:creationId xmlns:a16="http://schemas.microsoft.com/office/drawing/2014/main" id="{B21BF634-F12D-D15C-5D78-D88E326E58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4200" dirty="0"/>
              <a:t>Iniciativas OWASP voltadas à área de IA</a:t>
            </a:r>
            <a:endParaRPr dirty="0"/>
          </a:p>
        </p:txBody>
      </p:sp>
      <p:sp>
        <p:nvSpPr>
          <p:cNvPr id="78" name="Google Shape;78;p4">
            <a:extLst>
              <a:ext uri="{FF2B5EF4-FFF2-40B4-BE49-F238E27FC236}">
                <a16:creationId xmlns:a16="http://schemas.microsoft.com/office/drawing/2014/main" id="{3BC448E2-AC36-E97C-39B4-FE31AD3F65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790918"/>
            <a:ext cx="5673955" cy="31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dirty="0"/>
              <a:t>OWASP Top 10 for LLM Applications 2026</a:t>
            </a:r>
          </a:p>
          <a:p>
            <a:endParaRPr lang="en-US" dirty="0"/>
          </a:p>
          <a:p>
            <a:r>
              <a:rPr lang="en-US" dirty="0"/>
              <a:t>OWASP Top 10 for Agentic Applications for 2026</a:t>
            </a:r>
          </a:p>
          <a:p>
            <a:endParaRPr lang="en-US" dirty="0"/>
          </a:p>
          <a:p>
            <a:r>
              <a:rPr lang="en-US" dirty="0"/>
              <a:t>OWASP MCP Top 10</a:t>
            </a:r>
          </a:p>
        </p:txBody>
      </p:sp>
      <p:sp>
        <p:nvSpPr>
          <p:cNvPr id="79" name="Google Shape;79;p4">
            <a:extLst>
              <a:ext uri="{FF2B5EF4-FFF2-40B4-BE49-F238E27FC236}">
                <a16:creationId xmlns:a16="http://schemas.microsoft.com/office/drawing/2014/main" id="{5D25C528-387F-0DB8-672B-DD2457F8470E}"/>
              </a:ext>
            </a:extLst>
          </p:cNvPr>
          <p:cNvSpPr txBox="1"/>
          <p:nvPr/>
        </p:nvSpPr>
        <p:spPr>
          <a:xfrm>
            <a:off x="234105" y="4501381"/>
            <a:ext cx="86739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62163"/>
              <a:buFont typeface="Average"/>
              <a:buNone/>
            </a:pPr>
            <a:r>
              <a:rPr lang="en-US" sz="12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VIXES</a:t>
            </a:r>
            <a:endParaRPr sz="1200" b="0" i="0" u="none" strike="noStrike" cap="none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114300" marR="0" lvl="0" indent="0" algn="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94595"/>
              <a:buFont typeface="Average"/>
              <a:buNone/>
            </a:pPr>
            <a:r>
              <a:rPr lang="en-US"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www.ties.dev.br</a:t>
            </a:r>
            <a:endParaRPr/>
          </a:p>
        </p:txBody>
      </p:sp>
      <p:sp>
        <p:nvSpPr>
          <p:cNvPr id="80" name="Google Shape;80;p4">
            <a:extLst>
              <a:ext uri="{FF2B5EF4-FFF2-40B4-BE49-F238E27FC236}">
                <a16:creationId xmlns:a16="http://schemas.microsoft.com/office/drawing/2014/main" id="{5C086EF5-4E27-23CB-7F83-BB0501F0E5A8}"/>
              </a:ext>
            </a:extLst>
          </p:cNvPr>
          <p:cNvSpPr/>
          <p:nvPr/>
        </p:nvSpPr>
        <p:spPr>
          <a:xfrm>
            <a:off x="8095920" y="174136"/>
            <a:ext cx="811500" cy="327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813D840-C52D-5347-39D7-1B6BCAF97A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" r="416"/>
          <a:stretch/>
        </p:blipFill>
        <p:spPr>
          <a:xfrm>
            <a:off x="6389627" y="1745671"/>
            <a:ext cx="2237702" cy="2158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1619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E03AA4C6-86D1-119F-D977-59E8A5AA5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>
            <a:extLst>
              <a:ext uri="{FF2B5EF4-FFF2-40B4-BE49-F238E27FC236}">
                <a16:creationId xmlns:a16="http://schemas.microsoft.com/office/drawing/2014/main" id="{D9CE63EB-07BE-DA43-3970-63A3E19F31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4200" dirty="0"/>
              <a:t>AI Gateways: algumas alternativas</a:t>
            </a:r>
            <a:endParaRPr dirty="0"/>
          </a:p>
        </p:txBody>
      </p:sp>
      <p:sp>
        <p:nvSpPr>
          <p:cNvPr id="78" name="Google Shape;78;p4">
            <a:extLst>
              <a:ext uri="{FF2B5EF4-FFF2-40B4-BE49-F238E27FC236}">
                <a16:creationId xmlns:a16="http://schemas.microsoft.com/office/drawing/2014/main" id="{0D7CE652-7B78-04D8-B685-16F163014B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310275"/>
            <a:ext cx="6048104" cy="36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r>
              <a:rPr lang="pt-BR" dirty="0"/>
              <a:t>APISIX</a:t>
            </a:r>
          </a:p>
          <a:p>
            <a:endParaRPr lang="pt-BR" dirty="0"/>
          </a:p>
          <a:p>
            <a:r>
              <a:rPr lang="pt-BR" dirty="0"/>
              <a:t>Azure API Management (APIM)</a:t>
            </a:r>
          </a:p>
          <a:p>
            <a:endParaRPr lang="pt-BR" dirty="0"/>
          </a:p>
          <a:p>
            <a:r>
              <a:rPr lang="pt-BR" dirty="0"/>
              <a:t>Azure AI Gateway</a:t>
            </a:r>
          </a:p>
          <a:p>
            <a:endParaRPr lang="pt-BR" dirty="0"/>
          </a:p>
          <a:p>
            <a:r>
              <a:rPr lang="pt-BR" dirty="0"/>
              <a:t>Kong</a:t>
            </a:r>
          </a:p>
          <a:p>
            <a:endParaRPr lang="pt-BR" dirty="0"/>
          </a:p>
          <a:p>
            <a:r>
              <a:rPr lang="pt-BR" dirty="0" err="1"/>
              <a:t>LiteLLM</a:t>
            </a:r>
            <a:endParaRPr lang="pt-BR" dirty="0"/>
          </a:p>
          <a:p>
            <a:endParaRPr lang="pt-BR" dirty="0"/>
          </a:p>
          <a:p>
            <a:r>
              <a:rPr lang="pt-BR" dirty="0"/>
              <a:t>...</a:t>
            </a:r>
          </a:p>
        </p:txBody>
      </p:sp>
      <p:sp>
        <p:nvSpPr>
          <p:cNvPr id="79" name="Google Shape;79;p4">
            <a:extLst>
              <a:ext uri="{FF2B5EF4-FFF2-40B4-BE49-F238E27FC236}">
                <a16:creationId xmlns:a16="http://schemas.microsoft.com/office/drawing/2014/main" id="{A6F820D8-7BD2-94AE-1240-D07BF3171FAD}"/>
              </a:ext>
            </a:extLst>
          </p:cNvPr>
          <p:cNvSpPr txBox="1"/>
          <p:nvPr/>
        </p:nvSpPr>
        <p:spPr>
          <a:xfrm>
            <a:off x="234105" y="4501381"/>
            <a:ext cx="86739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62163"/>
              <a:buFont typeface="Average"/>
              <a:buNone/>
            </a:pPr>
            <a:r>
              <a:rPr lang="en-US" sz="12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VIXES</a:t>
            </a:r>
            <a:endParaRPr sz="1200" b="0" i="0" u="none" strike="noStrike" cap="none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114300" marR="0" lvl="0" indent="0" algn="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94595"/>
              <a:buFont typeface="Average"/>
              <a:buNone/>
            </a:pPr>
            <a:r>
              <a:rPr lang="en-US"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www.ties.dev.br</a:t>
            </a:r>
            <a:endParaRPr/>
          </a:p>
        </p:txBody>
      </p:sp>
      <p:sp>
        <p:nvSpPr>
          <p:cNvPr id="80" name="Google Shape;80;p4">
            <a:extLst>
              <a:ext uri="{FF2B5EF4-FFF2-40B4-BE49-F238E27FC236}">
                <a16:creationId xmlns:a16="http://schemas.microsoft.com/office/drawing/2014/main" id="{172B351E-3FA5-A2F8-BC52-CDA97534B632}"/>
              </a:ext>
            </a:extLst>
          </p:cNvPr>
          <p:cNvSpPr/>
          <p:nvPr/>
        </p:nvSpPr>
        <p:spPr>
          <a:xfrm>
            <a:off x="8095920" y="174136"/>
            <a:ext cx="811500" cy="327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7A7721ED-9C9C-D311-0A58-78B8E031D6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36020" y="1805602"/>
            <a:ext cx="996280" cy="996280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7B70213D-1E30-6AC4-84E8-00464D342E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1110" y="1887288"/>
            <a:ext cx="996281" cy="84010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5160ECF1-E16B-E617-F8E1-0F8BBEA132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8721" y="1865502"/>
            <a:ext cx="876742" cy="87674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3C9FFADF-70DE-9A3A-0330-48F1B8ED91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5740" y="2878432"/>
            <a:ext cx="848420" cy="84842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35261BD5-766B-210F-09E7-093455AAF1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59804" y="2878432"/>
            <a:ext cx="947506" cy="84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156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84900-C2EF-24EE-2C8B-E7CE573B8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3ACEBED-F95C-2C84-7BE5-48B3D2AAC2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4489272"/>
            <a:ext cx="8520600" cy="419569"/>
          </a:xfrm>
        </p:spPr>
        <p:txBody>
          <a:bodyPr>
            <a:normAutofit fontScale="85000" lnSpcReduction="20000"/>
          </a:bodyPr>
          <a:lstStyle/>
          <a:p>
            <a:pPr marL="114300" indent="0">
              <a:buNone/>
            </a:pPr>
            <a:r>
              <a:rPr lang="pt-BR" dirty="0"/>
              <a:t>Fonte: Microsoft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0BD7232-2F22-945A-C27C-0638D704E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05" y="321045"/>
            <a:ext cx="7476758" cy="4168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0884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https://apisix.apache.org/img/ai-gateway/hero.png">
            <a:extLst>
              <a:ext uri="{FF2B5EF4-FFF2-40B4-BE49-F238E27FC236}">
                <a16:creationId xmlns:a16="http://schemas.microsoft.com/office/drawing/2014/main" id="{6CD35030-F702-A1DC-F075-0C7CBD977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318" y="335101"/>
            <a:ext cx="8485982" cy="4193736"/>
          </a:xfrm>
          <a:prstGeom prst="rect">
            <a:avLst/>
          </a:prstGeom>
        </p:spPr>
      </p:pic>
      <p:sp>
        <p:nvSpPr>
          <p:cNvPr id="8" name="Espaço Reservado para Texto 2">
            <a:extLst>
              <a:ext uri="{FF2B5EF4-FFF2-40B4-BE49-F238E27FC236}">
                <a16:creationId xmlns:a16="http://schemas.microsoft.com/office/drawing/2014/main" id="{EFB367CE-3A9A-15E1-C7A4-B7FC4DC0E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4489272"/>
            <a:ext cx="8520600" cy="419569"/>
          </a:xfrm>
        </p:spPr>
        <p:txBody>
          <a:bodyPr>
            <a:normAutofit fontScale="85000" lnSpcReduction="20000"/>
          </a:bodyPr>
          <a:lstStyle/>
          <a:p>
            <a:pPr marL="114300" indent="0">
              <a:buNone/>
            </a:pPr>
            <a:r>
              <a:rPr lang="pt-BR" dirty="0"/>
              <a:t>Fonte: APISIX</a:t>
            </a:r>
          </a:p>
        </p:txBody>
      </p:sp>
    </p:spTree>
    <p:extLst>
      <p:ext uri="{BB962C8B-B14F-4D97-AF65-F5344CB8AC3E}">
        <p14:creationId xmlns:p14="http://schemas.microsoft.com/office/powerpoint/2010/main" val="33396834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7ED61-BDCA-6B3B-0DD8-5DCD37966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https://apisix.apache.org/img/ai-gateway/architecture.png">
            <a:extLst>
              <a:ext uri="{FF2B5EF4-FFF2-40B4-BE49-F238E27FC236}">
                <a16:creationId xmlns:a16="http://schemas.microsoft.com/office/drawing/2014/main" id="{16CCACAE-719B-6598-B914-4F11F717A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957" y="-94295"/>
            <a:ext cx="8531343" cy="5332090"/>
          </a:xfrm>
          <a:prstGeom prst="rect">
            <a:avLst/>
          </a:prstGeom>
        </p:spPr>
      </p:pic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EBE8C0F-0E8E-0F07-4006-EB2ACA99D5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4489272"/>
            <a:ext cx="8520600" cy="419569"/>
          </a:xfrm>
        </p:spPr>
        <p:txBody>
          <a:bodyPr>
            <a:normAutofit fontScale="85000" lnSpcReduction="20000"/>
          </a:bodyPr>
          <a:lstStyle/>
          <a:p>
            <a:pPr marL="114300" indent="0">
              <a:buNone/>
            </a:pPr>
            <a:r>
              <a:rPr lang="pt-BR" dirty="0"/>
              <a:t>Fonte: APISIX</a:t>
            </a:r>
          </a:p>
        </p:txBody>
      </p:sp>
    </p:spTree>
    <p:extLst>
      <p:ext uri="{BB962C8B-B14F-4D97-AF65-F5344CB8AC3E}">
        <p14:creationId xmlns:p14="http://schemas.microsoft.com/office/powerpoint/2010/main" val="27453430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9CDACFC7-C5E7-4AED-9D19-C4638BE83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>
            <a:extLst>
              <a:ext uri="{FF2B5EF4-FFF2-40B4-BE49-F238E27FC236}">
                <a16:creationId xmlns:a16="http://schemas.microsoft.com/office/drawing/2014/main" id="{E623A927-636D-52B1-CA95-1858709A03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4200" dirty="0" err="1"/>
              <a:t>Exemplos</a:t>
            </a:r>
            <a:r>
              <a:rPr lang="en-US" sz="4200" dirty="0"/>
              <a:t> </a:t>
            </a:r>
            <a:r>
              <a:rPr lang="en-US" sz="4200" dirty="0" err="1"/>
              <a:t>práticos</a:t>
            </a:r>
            <a:endParaRPr dirty="0"/>
          </a:p>
        </p:txBody>
      </p:sp>
      <p:sp>
        <p:nvSpPr>
          <p:cNvPr id="79" name="Google Shape;79;p4">
            <a:extLst>
              <a:ext uri="{FF2B5EF4-FFF2-40B4-BE49-F238E27FC236}">
                <a16:creationId xmlns:a16="http://schemas.microsoft.com/office/drawing/2014/main" id="{9227DCE5-61B8-A8AD-B940-5A0B7F3BA199}"/>
              </a:ext>
            </a:extLst>
          </p:cNvPr>
          <p:cNvSpPr txBox="1"/>
          <p:nvPr/>
        </p:nvSpPr>
        <p:spPr>
          <a:xfrm>
            <a:off x="234105" y="4501381"/>
            <a:ext cx="86739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62163"/>
              <a:buFont typeface="Average"/>
              <a:buNone/>
            </a:pPr>
            <a:r>
              <a:rPr lang="en-US" sz="12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VIXES</a:t>
            </a:r>
            <a:endParaRPr sz="1200" b="0" i="0" u="none" strike="noStrike" cap="none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114300" marR="0" lvl="0" indent="0" algn="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94595"/>
              <a:buFont typeface="Average"/>
              <a:buNone/>
            </a:pPr>
            <a:r>
              <a:rPr lang="en-US"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www.ties.dev.br</a:t>
            </a:r>
            <a:endParaRPr/>
          </a:p>
        </p:txBody>
      </p:sp>
      <p:sp>
        <p:nvSpPr>
          <p:cNvPr id="80" name="Google Shape;80;p4">
            <a:extLst>
              <a:ext uri="{FF2B5EF4-FFF2-40B4-BE49-F238E27FC236}">
                <a16:creationId xmlns:a16="http://schemas.microsoft.com/office/drawing/2014/main" id="{765152CF-CA17-3643-DF08-DB8E08EB3FC3}"/>
              </a:ext>
            </a:extLst>
          </p:cNvPr>
          <p:cNvSpPr/>
          <p:nvPr/>
        </p:nvSpPr>
        <p:spPr>
          <a:xfrm>
            <a:off x="8095920" y="174136"/>
            <a:ext cx="811500" cy="327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D12F006C-BB3A-759D-DB9F-56C3C0D796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7407" y="3551011"/>
            <a:ext cx="996280" cy="99628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CDF6548F-F212-DDDD-3839-B5F9D82714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42497" y="3632697"/>
            <a:ext cx="996281" cy="84010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3D7677B8-AA77-78A6-1A6C-893C86D331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108" y="3610911"/>
            <a:ext cx="876742" cy="87674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E5D0E91D-583B-4146-5DE5-05A10C83B2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5655" y="3624385"/>
            <a:ext cx="848420" cy="84842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F17EAD16-F31E-764B-10D9-4BE523E2A8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59719" y="3624385"/>
            <a:ext cx="947506" cy="84842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49E08EE-5332-4A5E-E64A-F52C12F7ADC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3997" y="1427402"/>
            <a:ext cx="1797170" cy="179717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2230F-677A-97CD-D54E-4D44D02B1D6F}"/>
              </a:ext>
            </a:extLst>
          </p:cNvPr>
          <p:cNvSpPr txBox="1">
            <a:spLocks/>
          </p:cNvSpPr>
          <p:nvPr/>
        </p:nvSpPr>
        <p:spPr>
          <a:xfrm>
            <a:off x="5659633" y="1849552"/>
            <a:ext cx="3676995" cy="117369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1667"/>
              </a:lnSpc>
              <a:spcAft>
                <a:spcPts val="11004"/>
              </a:spcAft>
              <a:buNone/>
            </a:pPr>
            <a:r>
              <a:rPr lang="pt-BR" sz="2800" dirty="0">
                <a:latin typeface="Maven Pro Black" pitchFamily="2" charset="77"/>
                <a:cs typeface="Maven Pro Regular" pitchFamily="34" charset="-120"/>
              </a:rPr>
              <a:t>Deixem um star </a:t>
            </a:r>
            <a:r>
              <a:rPr lang="pt-BR" sz="2800" dirty="0">
                <a:latin typeface="Maven Pro Regular" pitchFamily="34" charset="0"/>
                <a:cs typeface="Maven Pro Regular" pitchFamily="34" charset="-120"/>
              </a:rPr>
              <a:t>⭐</a:t>
            </a:r>
            <a:r>
              <a:rPr lang="pt-BR" sz="2800" dirty="0">
                <a:latin typeface="Maven Pro Black" pitchFamily="2" charset="77"/>
                <a:cs typeface="Maven Pro Regular" pitchFamily="34" charset="-120"/>
              </a:rPr>
              <a:t> </a:t>
            </a:r>
            <a:r>
              <a:rPr lang="en-US" sz="2800" dirty="0" err="1">
                <a:latin typeface="Maven Pro Black" pitchFamily="2" charset="77"/>
                <a:cs typeface="Maven Pro Regular" pitchFamily="34" charset="-120"/>
              </a:rPr>
              <a:t>apoiando</a:t>
            </a:r>
            <a:endParaRPr lang="pt-BR" sz="2800" dirty="0">
              <a:latin typeface="Maven Pro Black" pitchFamily="2" charset="77"/>
              <a:cs typeface="Maven Pro Regular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492906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F4861507-2A45-3942-49A8-FFD02A386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>
            <a:extLst>
              <a:ext uri="{FF2B5EF4-FFF2-40B4-BE49-F238E27FC236}">
                <a16:creationId xmlns:a16="http://schemas.microsoft.com/office/drawing/2014/main" id="{FF2E9C2C-26F7-8DDF-03DF-6928D2C786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4200" dirty="0" err="1"/>
              <a:t>Muito</a:t>
            </a:r>
            <a:r>
              <a:rPr lang="en-US" sz="4200" dirty="0"/>
              <a:t> </a:t>
            </a:r>
            <a:r>
              <a:rPr lang="en-US" sz="4200" dirty="0" err="1"/>
              <a:t>obrigado</a:t>
            </a:r>
            <a:r>
              <a:rPr lang="en-US" sz="4200" dirty="0"/>
              <a:t>!</a:t>
            </a:r>
            <a:endParaRPr dirty="0"/>
          </a:p>
        </p:txBody>
      </p:sp>
      <p:sp>
        <p:nvSpPr>
          <p:cNvPr id="79" name="Google Shape;79;p4">
            <a:extLst>
              <a:ext uri="{FF2B5EF4-FFF2-40B4-BE49-F238E27FC236}">
                <a16:creationId xmlns:a16="http://schemas.microsoft.com/office/drawing/2014/main" id="{390B365F-448D-41E2-28F6-0E1185A0CB8C}"/>
              </a:ext>
            </a:extLst>
          </p:cNvPr>
          <p:cNvSpPr txBox="1"/>
          <p:nvPr/>
        </p:nvSpPr>
        <p:spPr>
          <a:xfrm>
            <a:off x="234105" y="4501381"/>
            <a:ext cx="86739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62163"/>
              <a:buFont typeface="Average"/>
              <a:buNone/>
            </a:pPr>
            <a:r>
              <a:rPr lang="en-US" sz="12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VIXES</a:t>
            </a:r>
            <a:endParaRPr sz="1200" b="0" i="0" u="none" strike="noStrike" cap="none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114300" marR="0" lvl="0" indent="0" algn="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94595"/>
              <a:buFont typeface="Average"/>
              <a:buNone/>
            </a:pPr>
            <a:r>
              <a:rPr lang="en-US"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www.ties.dev.br</a:t>
            </a:r>
            <a:endParaRPr/>
          </a:p>
        </p:txBody>
      </p:sp>
      <p:sp>
        <p:nvSpPr>
          <p:cNvPr id="80" name="Google Shape;80;p4">
            <a:extLst>
              <a:ext uri="{FF2B5EF4-FFF2-40B4-BE49-F238E27FC236}">
                <a16:creationId xmlns:a16="http://schemas.microsoft.com/office/drawing/2014/main" id="{F127706F-EF73-DBB3-75F2-3C198CD21396}"/>
              </a:ext>
            </a:extLst>
          </p:cNvPr>
          <p:cNvSpPr/>
          <p:nvPr/>
        </p:nvSpPr>
        <p:spPr>
          <a:xfrm>
            <a:off x="8095920" y="174136"/>
            <a:ext cx="811500" cy="327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9E0D6CC4-B253-CB32-9078-3367FF7C93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7407" y="3551011"/>
            <a:ext cx="996280" cy="99628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2754547F-DBCE-C0BE-E95F-A5C215DDB5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42497" y="3632697"/>
            <a:ext cx="996281" cy="84010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F25FFAEC-BC81-4DF6-C816-839311DC27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108" y="3610911"/>
            <a:ext cx="876742" cy="87674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79BB6FA2-4ABF-8D27-711B-93F247DA37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5655" y="3624385"/>
            <a:ext cx="848420" cy="84842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B421A143-BEAB-58AE-A5D2-FBF33603A6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59719" y="3624385"/>
            <a:ext cx="947506" cy="84842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A6302328-8D02-C7D8-5596-08D7A5CD8A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3997" y="1427402"/>
            <a:ext cx="1797170" cy="179717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4F4AF-F94C-FFDA-C8C4-6369BD56F18A}"/>
              </a:ext>
            </a:extLst>
          </p:cNvPr>
          <p:cNvSpPr txBox="1">
            <a:spLocks/>
          </p:cNvSpPr>
          <p:nvPr/>
        </p:nvSpPr>
        <p:spPr>
          <a:xfrm>
            <a:off x="5659633" y="1849552"/>
            <a:ext cx="3676995" cy="117369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1667"/>
              </a:lnSpc>
              <a:spcAft>
                <a:spcPts val="11004"/>
              </a:spcAft>
              <a:buNone/>
            </a:pPr>
            <a:r>
              <a:rPr lang="pt-BR" sz="2800" dirty="0">
                <a:latin typeface="Maven Pro Black" pitchFamily="2" charset="77"/>
                <a:cs typeface="Maven Pro Regular" pitchFamily="34" charset="-120"/>
              </a:rPr>
              <a:t>Deixem um star </a:t>
            </a:r>
            <a:r>
              <a:rPr lang="pt-BR" sz="2800" dirty="0">
                <a:latin typeface="Maven Pro Regular" pitchFamily="34" charset="0"/>
                <a:cs typeface="Maven Pro Regular" pitchFamily="34" charset="-120"/>
              </a:rPr>
              <a:t>⭐</a:t>
            </a:r>
            <a:r>
              <a:rPr lang="pt-BR" sz="2800" dirty="0">
                <a:latin typeface="Maven Pro Black" pitchFamily="2" charset="77"/>
                <a:cs typeface="Maven Pro Regular" pitchFamily="34" charset="-120"/>
              </a:rPr>
              <a:t> </a:t>
            </a:r>
            <a:r>
              <a:rPr lang="en-US" sz="2800" dirty="0" err="1">
                <a:latin typeface="Maven Pro Black" pitchFamily="2" charset="77"/>
                <a:cs typeface="Maven Pro Regular" pitchFamily="34" charset="-120"/>
              </a:rPr>
              <a:t>apoiando</a:t>
            </a:r>
            <a:endParaRPr lang="pt-BR" sz="2800" dirty="0">
              <a:latin typeface="Maven Pro Black" pitchFamily="2" charset="77"/>
              <a:cs typeface="Maven Pro Regular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661832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491</Words>
  <Application>Microsoft Office PowerPoint</Application>
  <PresentationFormat>Apresentação na tela (16:9)</PresentationFormat>
  <Paragraphs>113</Paragraphs>
  <Slides>19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5" baseType="lpstr">
      <vt:lpstr>Oswald</vt:lpstr>
      <vt:lpstr>Average</vt:lpstr>
      <vt:lpstr>Maven Pro Black</vt:lpstr>
      <vt:lpstr>Arial</vt:lpstr>
      <vt:lpstr>Maven Pro Regular</vt:lpstr>
      <vt:lpstr>Slate</vt:lpstr>
      <vt:lpstr>Apresentação do PowerPoint</vt:lpstr>
      <vt:lpstr>Apresentação do PowerPoint</vt:lpstr>
      <vt:lpstr>Apresentação do PowerPoint</vt:lpstr>
      <vt:lpstr>Renato Groffe</vt:lpstr>
      <vt:lpstr>Milton Camara</vt:lpstr>
      <vt:lpstr>Conteúdos desta apresentação</vt:lpstr>
      <vt:lpstr>Agenda</vt:lpstr>
      <vt:lpstr>O que é um AI Gateway?</vt:lpstr>
      <vt:lpstr>Por que utilizar um AI Gateway?</vt:lpstr>
      <vt:lpstr>AI Gateways x Segurança</vt:lpstr>
      <vt:lpstr>Governança e Controle com AI Gateways</vt:lpstr>
      <vt:lpstr>Iniciativas OWASP voltadas à área de IA</vt:lpstr>
      <vt:lpstr>AI Gateways: algumas alternativas</vt:lpstr>
      <vt:lpstr>Apresentação do PowerPoint</vt:lpstr>
      <vt:lpstr>Apresentação do PowerPoint</vt:lpstr>
      <vt:lpstr>Apresentação do PowerPoint</vt:lpstr>
      <vt:lpstr>Exemplos práticos</vt:lpstr>
      <vt:lpstr>Muito obrigado!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Renato Groffe</dc:creator>
  <cp:lastModifiedBy>Renato Groffe</cp:lastModifiedBy>
  <cp:revision>9</cp:revision>
  <dcterms:modified xsi:type="dcterms:W3CDTF">2026-09-19T00:53:04Z</dcterms:modified>
</cp:coreProperties>
</file>